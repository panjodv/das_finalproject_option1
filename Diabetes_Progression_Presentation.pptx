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1"/>
  <c:style val="2"/>
  <c:chart>
    <c:title>
      <c:tx>
        <c:rich>
          <a:bodyPr/>
          <a:lstStyle/>
          <a:p>
            <a:pPr>
              <a:defRPr sz="1400" b="0" i="0" u="none" strike="noStrike">
                <a:solidFill>
                  <a:srgbClr val="44546A"/>
                </a:solidFill>
                <a:latin typeface="Georgia"/>
              </a:defRPr>
            </a:pPr>
            <a:r>
              <a:rPr lang="en-US" sz="1400" b="0" i="0" u="none" strike="noStrike">
                <a:solidFill>
                  <a:srgbClr val="44546A"/>
                </a:solidFill>
                <a:latin typeface="Georgia"/>
              </a:rPr>
              <a:t>% of patient-to-patient variation explained</a:t>
            </a:r>
          </a:p>
        </c:rich>
      </c:tx>
      <c:overlay val="0"/>
    </c:title>
    <c:autoTitleDeleted val="0"/>
    <c:plotArea>
      <c:layout/>
      <c:barChart>
        <c:barDir val="col"/>
        <c:grouping val="clustered"/>
        <c:varyColors val="0"/>
        <c:ser>
          <c:idx val="0"/>
          <c:order val="0"/>
          <c:tx>
            <c:strRef>
              <c:f>Sheet1!$B$1</c:f>
              <c:strCache>
                <c:ptCount val="1"/>
                <c:pt idx="0">
                  <c:v>Variation explained</c:v>
                </c:pt>
              </c:strCache>
            </c:strRef>
          </c:tx>
          <c:spPr>
            <a:solidFill>
              <a:srgbClr val="2E7D5B"/>
            </a:solidFill>
            <a:effectLst/>
          </c:spPr>
          <c:invertIfNegative val="0"/>
          <c:dLbls>
            <c:numFmt formatCode="#,##0" sourceLinked="0"/>
            <c:spPr>
              <a:noFill/>
              <a:ln>
                <a:noFill/>
              </a:ln>
              <a:effectLst/>
            </c:spPr>
            <c:txPr>
              <a:bodyPr/>
              <a:lstStyle/>
              <a:p>
                <a:pPr>
                  <a:defRPr sz="1300" b="0" i="0" u="none" strike="noStrike">
                    <a:solidFill>
                      <a:srgbClr val="2B2B2B"/>
                    </a:solidFill>
                    <a:latin typeface="Arial"/>
                  </a:defRPr>
                </a:pPr>
                <a:endParaRPr lang="el-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BMI alone</c:v>
                </c:pt>
                <c:pt idx="1">
                  <c:v>BMI + blood pressure
+ blood-lipid measure</c:v>
                </c:pt>
              </c:strCache>
            </c:strRef>
          </c:cat>
          <c:val>
            <c:numRef>
              <c:f>Sheet1!$B$2:$B$3</c:f>
              <c:numCache>
                <c:formatCode>General</c:formatCode>
                <c:ptCount val="2"/>
                <c:pt idx="0">
                  <c:v>34</c:v>
                </c:pt>
                <c:pt idx="1">
                  <c:v>48</c:v>
                </c:pt>
              </c:numCache>
            </c:numRef>
          </c:val>
          <c:extLst>
            <c:ext xmlns:c16="http://schemas.microsoft.com/office/drawing/2014/chart" uri="{C3380CC4-5D6E-409C-BE32-E72D297353CC}">
              <c16:uniqueId val="{00000000-38CB-47F3-ABBC-2A3994101F7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Georgia"/>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0717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286000"/>
            <a:ext cx="10881360" cy="1097280"/>
          </a:xfrm>
          <a:prstGeom prst="rect">
            <a:avLst/>
          </a:prstGeom>
          <a:noFill/>
          <a:ln/>
        </p:spPr>
        <p:txBody>
          <a:bodyPr wrap="square" rtlCol="0" anchor="ctr"/>
          <a:lstStyle/>
          <a:p>
            <a:pPr marL="0" indent="0">
              <a:buNone/>
            </a:pPr>
            <a:r>
              <a:rPr lang="en-US" sz="4000" b="1" dirty="0">
                <a:solidFill>
                  <a:srgbClr val="1F3A5F"/>
                </a:solidFill>
                <a:latin typeface="Georgia" pitchFamily="34" charset="0"/>
                <a:ea typeface="Georgia" pitchFamily="34" charset="-122"/>
                <a:cs typeface="Georgia" pitchFamily="34" charset="-120"/>
              </a:rPr>
              <a:t>Understanding Diabetes Progression</a:t>
            </a:r>
            <a:endParaRPr lang="en-US" sz="4000" dirty="0"/>
          </a:p>
        </p:txBody>
      </p:sp>
      <p:sp>
        <p:nvSpPr>
          <p:cNvPr id="3" name="Text 1"/>
          <p:cNvSpPr txBox="1"/>
          <p:nvPr/>
        </p:nvSpPr>
        <p:spPr>
          <a:xfrm>
            <a:off x="640080" y="3246120"/>
            <a:ext cx="10058400" cy="548640"/>
          </a:xfrm>
          <a:prstGeom prst="rect">
            <a:avLst/>
          </a:prstGeom>
          <a:noFill/>
          <a:ln/>
        </p:spPr>
        <p:txBody>
          <a:bodyPr wrap="square" rtlCol="0" anchor="ctr"/>
          <a:lstStyle/>
          <a:p>
            <a:pPr marL="0" indent="0">
              <a:buNone/>
            </a:pPr>
            <a:r>
              <a:rPr lang="en-US" sz="2000" dirty="0">
                <a:solidFill>
                  <a:srgbClr val="44546A"/>
                </a:solidFill>
                <a:latin typeface="Georgia" pitchFamily="34" charset="0"/>
                <a:ea typeface="Georgia" pitchFamily="34" charset="-122"/>
                <a:cs typeface="Georgia" pitchFamily="34" charset="-120"/>
              </a:rPr>
              <a:t>What the data can — and can't — tell us about patient risk</a:t>
            </a:r>
            <a:endParaRPr lang="en-US" sz="2000" dirty="0"/>
          </a:p>
        </p:txBody>
      </p:sp>
      <p:sp>
        <p:nvSpPr>
          <p:cNvPr id="4" name="Text 2"/>
          <p:cNvSpPr txBox="1"/>
          <p:nvPr/>
        </p:nvSpPr>
        <p:spPr>
          <a:xfrm>
            <a:off x="640080" y="6035040"/>
            <a:ext cx="9144000" cy="365760"/>
          </a:xfrm>
          <a:prstGeom prst="rect">
            <a:avLst/>
          </a:prstGeom>
          <a:noFill/>
          <a:ln/>
        </p:spPr>
        <p:txBody>
          <a:bodyPr wrap="square" rtlCol="0" anchor="ctr"/>
          <a:lstStyle/>
          <a:p>
            <a:pPr marL="0" indent="0">
              <a:buNone/>
            </a:pPr>
            <a:r>
              <a:rPr lang="en-US" sz="1300" dirty="0">
                <a:solidFill>
                  <a:srgbClr val="6B7280"/>
                </a:solidFill>
                <a:latin typeface="Georgia" pitchFamily="34" charset="0"/>
                <a:ea typeface="Georgia" pitchFamily="34" charset="-122"/>
                <a:cs typeface="Georgia" pitchFamily="34" charset="-120"/>
              </a:rPr>
              <a:t>Analysis of 442 patients  ·  Prepared for a health-service decision-maker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F3A5F"/>
                </a:solidFill>
                <a:latin typeface="Georgia" pitchFamily="34" charset="0"/>
                <a:ea typeface="Georgia" pitchFamily="34" charset="-122"/>
                <a:cs typeface="Georgia" pitchFamily="34" charset="-120"/>
              </a:rPr>
              <a:t>The question and the data</a:t>
            </a:r>
            <a:endParaRPr lang="en-US" sz="2800" dirty="0"/>
          </a:p>
        </p:txBody>
      </p:sp>
      <p:sp>
        <p:nvSpPr>
          <p:cNvPr id="3" name="Text 1"/>
          <p:cNvSpPr txBox="1"/>
          <p:nvPr/>
        </p:nvSpPr>
        <p:spPr>
          <a:xfrm>
            <a:off x="640080" y="1234440"/>
            <a:ext cx="10515600" cy="548640"/>
          </a:xfrm>
          <a:prstGeom prst="rect">
            <a:avLst/>
          </a:prstGeom>
          <a:noFill/>
          <a:ln/>
        </p:spPr>
        <p:txBody>
          <a:bodyPr wrap="square" rtlCol="0" anchor="ctr"/>
          <a:lstStyle/>
          <a:p>
            <a:pPr marL="0" indent="0">
              <a:buNone/>
            </a:pPr>
            <a:r>
              <a:rPr lang="en-US" sz="1700" dirty="0">
                <a:solidFill>
                  <a:srgbClr val="2B2B2B"/>
                </a:solidFill>
                <a:latin typeface="Georgia" pitchFamily="34" charset="0"/>
                <a:ea typeface="Georgia" pitchFamily="34" charset="-122"/>
                <a:cs typeface="Georgia" pitchFamily="34" charset="-120"/>
              </a:rPr>
              <a:t>We asked: which patient characteristics go along with faster diabetes progression?</a:t>
            </a:r>
            <a:endParaRPr lang="en-US" sz="1700" dirty="0"/>
          </a:p>
        </p:txBody>
      </p:sp>
      <p:sp>
        <p:nvSpPr>
          <p:cNvPr id="4" name="Shape 2"/>
          <p:cNvSpPr/>
          <p:nvPr/>
        </p:nvSpPr>
        <p:spPr>
          <a:xfrm>
            <a:off x="640080" y="2103120"/>
            <a:ext cx="3429000" cy="1920240"/>
          </a:xfrm>
          <a:prstGeom prst="roundRect">
            <a:avLst>
              <a:gd name="adj" fmla="val 3810"/>
            </a:avLst>
          </a:prstGeom>
          <a:solidFill>
            <a:srgbClr val="F4F6F8"/>
          </a:solidFill>
          <a:ln/>
        </p:spPr>
      </p:sp>
      <p:sp>
        <p:nvSpPr>
          <p:cNvPr id="5" name="Text 3"/>
          <p:cNvSpPr txBox="1"/>
          <p:nvPr/>
        </p:nvSpPr>
        <p:spPr>
          <a:xfrm>
            <a:off x="640080" y="2331720"/>
            <a:ext cx="3429000" cy="822960"/>
          </a:xfrm>
          <a:prstGeom prst="rect">
            <a:avLst/>
          </a:prstGeom>
          <a:noFill/>
          <a:ln/>
        </p:spPr>
        <p:txBody>
          <a:bodyPr wrap="square" rtlCol="0" anchor="ctr"/>
          <a:lstStyle/>
          <a:p>
            <a:pPr marL="0" indent="0" algn="ctr">
              <a:buNone/>
            </a:pPr>
            <a:r>
              <a:rPr lang="en-US" sz="4400" b="1" dirty="0">
                <a:solidFill>
                  <a:srgbClr val="2E7D5B"/>
                </a:solidFill>
                <a:latin typeface="Georgia" pitchFamily="34" charset="0"/>
                <a:ea typeface="Georgia" pitchFamily="34" charset="-122"/>
                <a:cs typeface="Georgia" pitchFamily="34" charset="-120"/>
              </a:rPr>
              <a:t>442</a:t>
            </a:r>
            <a:endParaRPr lang="en-US" sz="4400" dirty="0"/>
          </a:p>
        </p:txBody>
      </p:sp>
      <p:sp>
        <p:nvSpPr>
          <p:cNvPr id="6" name="Text 4"/>
          <p:cNvSpPr txBox="1"/>
          <p:nvPr/>
        </p:nvSpPr>
        <p:spPr>
          <a:xfrm>
            <a:off x="914400" y="3154680"/>
            <a:ext cx="2880360" cy="777240"/>
          </a:xfrm>
          <a:prstGeom prst="rect">
            <a:avLst/>
          </a:prstGeom>
          <a:noFill/>
          <a:ln/>
        </p:spPr>
        <p:txBody>
          <a:bodyPr wrap="square" rtlCol="0" anchor="ctr"/>
          <a:lstStyle/>
          <a:p>
            <a:pPr marL="0" indent="0" algn="ctr">
              <a:buNone/>
            </a:pPr>
            <a:r>
              <a:rPr lang="en-US" sz="1300" dirty="0">
                <a:solidFill>
                  <a:srgbClr val="2B2B2B"/>
                </a:solidFill>
                <a:latin typeface="Georgia" pitchFamily="34" charset="0"/>
                <a:ea typeface="Georgia" pitchFamily="34" charset="-122"/>
                <a:cs typeface="Georgia" pitchFamily="34" charset="-120"/>
              </a:rPr>
              <a:t>patients in the dataset</a:t>
            </a:r>
            <a:endParaRPr lang="en-US" sz="1300" dirty="0"/>
          </a:p>
        </p:txBody>
      </p:sp>
      <p:sp>
        <p:nvSpPr>
          <p:cNvPr id="7" name="Shape 5"/>
          <p:cNvSpPr/>
          <p:nvPr/>
        </p:nvSpPr>
        <p:spPr>
          <a:xfrm>
            <a:off x="4343400" y="2103120"/>
            <a:ext cx="3429000" cy="1920240"/>
          </a:xfrm>
          <a:prstGeom prst="roundRect">
            <a:avLst>
              <a:gd name="adj" fmla="val 3810"/>
            </a:avLst>
          </a:prstGeom>
          <a:solidFill>
            <a:srgbClr val="F4F6F8"/>
          </a:solidFill>
          <a:ln/>
        </p:spPr>
      </p:sp>
      <p:sp>
        <p:nvSpPr>
          <p:cNvPr id="8" name="Text 6"/>
          <p:cNvSpPr txBox="1"/>
          <p:nvPr/>
        </p:nvSpPr>
        <p:spPr>
          <a:xfrm>
            <a:off x="4343400" y="2331720"/>
            <a:ext cx="3429000" cy="822960"/>
          </a:xfrm>
          <a:prstGeom prst="rect">
            <a:avLst/>
          </a:prstGeom>
          <a:noFill/>
          <a:ln/>
        </p:spPr>
        <p:txBody>
          <a:bodyPr wrap="square" rtlCol="0" anchor="ctr"/>
          <a:lstStyle/>
          <a:p>
            <a:pPr marL="0" indent="0" algn="ctr">
              <a:buNone/>
            </a:pPr>
            <a:r>
              <a:rPr lang="en-US" sz="4400" b="1" dirty="0">
                <a:solidFill>
                  <a:srgbClr val="2E7D5B"/>
                </a:solidFill>
                <a:latin typeface="Georgia" pitchFamily="34" charset="0"/>
                <a:ea typeface="Georgia" pitchFamily="34" charset="-122"/>
                <a:cs typeface="Georgia" pitchFamily="34" charset="-120"/>
              </a:rPr>
              <a:t>10</a:t>
            </a:r>
            <a:endParaRPr lang="en-US" sz="4400" dirty="0"/>
          </a:p>
        </p:txBody>
      </p:sp>
      <p:sp>
        <p:nvSpPr>
          <p:cNvPr id="9" name="Text 7"/>
          <p:cNvSpPr txBox="1"/>
          <p:nvPr/>
        </p:nvSpPr>
        <p:spPr>
          <a:xfrm>
            <a:off x="4617720" y="3154680"/>
            <a:ext cx="2880360" cy="777240"/>
          </a:xfrm>
          <a:prstGeom prst="rect">
            <a:avLst/>
          </a:prstGeom>
          <a:noFill/>
          <a:ln/>
        </p:spPr>
        <p:txBody>
          <a:bodyPr wrap="square" rtlCol="0" anchor="ctr"/>
          <a:lstStyle/>
          <a:p>
            <a:pPr marL="0" indent="0" algn="ctr">
              <a:buNone/>
            </a:pPr>
            <a:r>
              <a:rPr lang="en-US" sz="1300" dirty="0">
                <a:solidFill>
                  <a:srgbClr val="2B2B2B"/>
                </a:solidFill>
                <a:latin typeface="Georgia" pitchFamily="34" charset="0"/>
                <a:ea typeface="Georgia" pitchFamily="34" charset="-122"/>
                <a:cs typeface="Georgia" pitchFamily="34" charset="-120"/>
              </a:rPr>
              <a:t>baseline characteristics recorded per patient — age, sex, BMI, blood pressure, and six blood measures</a:t>
            </a:r>
            <a:endParaRPr lang="en-US" sz="1300" dirty="0"/>
          </a:p>
        </p:txBody>
      </p:sp>
      <p:sp>
        <p:nvSpPr>
          <p:cNvPr id="10" name="Shape 8"/>
          <p:cNvSpPr/>
          <p:nvPr/>
        </p:nvSpPr>
        <p:spPr>
          <a:xfrm>
            <a:off x="8046720" y="2103120"/>
            <a:ext cx="3429000" cy="1920240"/>
          </a:xfrm>
          <a:prstGeom prst="roundRect">
            <a:avLst>
              <a:gd name="adj" fmla="val 3810"/>
            </a:avLst>
          </a:prstGeom>
          <a:solidFill>
            <a:srgbClr val="F4F6F8"/>
          </a:solidFill>
          <a:ln/>
        </p:spPr>
      </p:sp>
      <p:sp>
        <p:nvSpPr>
          <p:cNvPr id="11" name="Text 9"/>
          <p:cNvSpPr txBox="1"/>
          <p:nvPr/>
        </p:nvSpPr>
        <p:spPr>
          <a:xfrm>
            <a:off x="8046720" y="2331720"/>
            <a:ext cx="3429000" cy="822960"/>
          </a:xfrm>
          <a:prstGeom prst="rect">
            <a:avLst/>
          </a:prstGeom>
          <a:noFill/>
          <a:ln/>
        </p:spPr>
        <p:txBody>
          <a:bodyPr wrap="square" rtlCol="0" anchor="ctr"/>
          <a:lstStyle/>
          <a:p>
            <a:pPr marL="0" indent="0" algn="ctr">
              <a:buNone/>
            </a:pPr>
            <a:r>
              <a:rPr lang="en-US" sz="4400" b="1" dirty="0">
                <a:solidFill>
                  <a:srgbClr val="2E7D5B"/>
                </a:solidFill>
                <a:latin typeface="Georgia" pitchFamily="34" charset="0"/>
                <a:ea typeface="Georgia" pitchFamily="34" charset="-122"/>
                <a:cs typeface="Georgia" pitchFamily="34" charset="-120"/>
              </a:rPr>
              <a:t>1</a:t>
            </a:r>
            <a:endParaRPr lang="en-US" sz="4400" dirty="0"/>
          </a:p>
        </p:txBody>
      </p:sp>
      <p:sp>
        <p:nvSpPr>
          <p:cNvPr id="12" name="Text 10"/>
          <p:cNvSpPr txBox="1"/>
          <p:nvPr/>
        </p:nvSpPr>
        <p:spPr>
          <a:xfrm>
            <a:off x="8321040" y="3154680"/>
            <a:ext cx="2880360" cy="777240"/>
          </a:xfrm>
          <a:prstGeom prst="rect">
            <a:avLst/>
          </a:prstGeom>
          <a:noFill/>
          <a:ln/>
        </p:spPr>
        <p:txBody>
          <a:bodyPr wrap="square" rtlCol="0" anchor="ctr"/>
          <a:lstStyle/>
          <a:p>
            <a:pPr marL="0" indent="0" algn="ctr">
              <a:buNone/>
            </a:pPr>
            <a:r>
              <a:rPr lang="en-US" sz="1300" dirty="0">
                <a:solidFill>
                  <a:srgbClr val="2B2B2B"/>
                </a:solidFill>
                <a:latin typeface="Georgia" pitchFamily="34" charset="0"/>
                <a:ea typeface="Georgia" pitchFamily="34" charset="-122"/>
                <a:cs typeface="Georgia" pitchFamily="34" charset="-120"/>
              </a:rPr>
              <a:t>outcome: a progression score measured one year later</a:t>
            </a:r>
            <a:endParaRPr lang="en-US" sz="1300" dirty="0"/>
          </a:p>
        </p:txBody>
      </p:sp>
      <p:sp>
        <p:nvSpPr>
          <p:cNvPr id="13" name="Text 11"/>
          <p:cNvSpPr txBox="1"/>
          <p:nvPr/>
        </p:nvSpPr>
        <p:spPr>
          <a:xfrm>
            <a:off x="640080" y="4434840"/>
            <a:ext cx="10607040" cy="914400"/>
          </a:xfrm>
          <a:prstGeom prst="rect">
            <a:avLst/>
          </a:prstGeom>
          <a:noFill/>
          <a:ln/>
        </p:spPr>
        <p:txBody>
          <a:bodyPr wrap="square" rtlCol="0" anchor="ctr"/>
          <a:lstStyle/>
          <a:p>
            <a:pPr marL="0" indent="0">
              <a:buNone/>
            </a:pPr>
            <a:r>
              <a:rPr lang="en-US" sz="1400" i="1" dirty="0">
                <a:solidFill>
                  <a:srgbClr val="6B7280"/>
                </a:solidFill>
                <a:latin typeface="Georgia" pitchFamily="34" charset="0"/>
                <a:ea typeface="Georgia" pitchFamily="34" charset="-122"/>
                <a:cs typeface="Georgia" pitchFamily="34" charset="-120"/>
              </a:rPr>
              <a:t>The data came from patient records, not from an experiment , patients were measured as they were, not assigned to different conditions. This matters for how we can interpret the results (see slide 5).</a:t>
            </a:r>
            <a:endParaRPr lang="en-US" sz="1400" dirty="0"/>
          </a:p>
        </p:txBody>
      </p:sp>
      <p:sp>
        <p:nvSpPr>
          <p:cNvPr id="14" name="Text 12"/>
          <p:cNvSpPr txBox="1"/>
          <p:nvPr/>
        </p:nvSpPr>
        <p:spPr>
          <a:xfrm>
            <a:off x="10972800" y="6492240"/>
            <a:ext cx="1005840" cy="274320"/>
          </a:xfrm>
          <a:prstGeom prst="rect">
            <a:avLst/>
          </a:prstGeom>
          <a:noFill/>
          <a:ln/>
        </p:spPr>
        <p:txBody>
          <a:bodyPr wrap="square" rtlCol="0" anchor="ctr"/>
          <a:lstStyle/>
          <a:p>
            <a:pPr marL="0" indent="0" algn="r">
              <a:buNone/>
            </a:pPr>
            <a:r>
              <a:rPr lang="en-US" sz="1000" dirty="0">
                <a:solidFill>
                  <a:srgbClr val="6B7280"/>
                </a:solidFill>
                <a:latin typeface="Georgia" pitchFamily="34" charset="0"/>
                <a:ea typeface="Georgia" pitchFamily="34" charset="-122"/>
                <a:cs typeface="Georgia"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F3A5F"/>
                </a:solidFill>
                <a:latin typeface="Georgia" pitchFamily="34" charset="0"/>
                <a:ea typeface="Georgia" pitchFamily="34" charset="-122"/>
                <a:cs typeface="Georgia" pitchFamily="34" charset="-120"/>
              </a:rPr>
              <a:t>The clearest patterns in the data</a:t>
            </a:r>
            <a:endParaRPr lang="en-US" sz="2800" dirty="0"/>
          </a:p>
        </p:txBody>
      </p:sp>
      <p:pic>
        <p:nvPicPr>
          <p:cNvPr id="3" name="Image 0" descr="figures/Rplot03_bmi_scatter.png"/>
          <p:cNvPicPr>
            <a:picLocks noChangeAspect="1"/>
          </p:cNvPicPr>
          <p:nvPr/>
        </p:nvPicPr>
        <p:blipFill>
          <a:blip r:embed="rId3"/>
          <a:stretch>
            <a:fillRect/>
          </a:stretch>
        </p:blipFill>
        <p:spPr>
          <a:xfrm>
            <a:off x="640080" y="1463040"/>
            <a:ext cx="5577840" cy="3387852"/>
          </a:xfrm>
          <a:prstGeom prst="rect">
            <a:avLst/>
          </a:prstGeom>
        </p:spPr>
      </p:pic>
      <p:sp>
        <p:nvSpPr>
          <p:cNvPr id="4" name="Text 1"/>
          <p:cNvSpPr txBox="1"/>
          <p:nvPr/>
        </p:nvSpPr>
        <p:spPr>
          <a:xfrm>
            <a:off x="640080" y="4983480"/>
            <a:ext cx="5577840" cy="457200"/>
          </a:xfrm>
          <a:prstGeom prst="rect">
            <a:avLst/>
          </a:prstGeom>
          <a:noFill/>
          <a:ln/>
        </p:spPr>
        <p:txBody>
          <a:bodyPr wrap="square" rtlCol="0" anchor="ctr"/>
          <a:lstStyle/>
          <a:p>
            <a:pPr marL="0" indent="0" algn="ctr">
              <a:buNone/>
            </a:pPr>
            <a:r>
              <a:rPr lang="en-US" sz="1500" b="1" dirty="0">
                <a:solidFill>
                  <a:srgbClr val="44546A"/>
                </a:solidFill>
                <a:latin typeface="Georgia" pitchFamily="34" charset="0"/>
                <a:ea typeface="Georgia" pitchFamily="34" charset="-122"/>
                <a:cs typeface="Georgia" pitchFamily="34" charset="-120"/>
              </a:rPr>
              <a:t>Higher BMI goes with higher progression</a:t>
            </a:r>
            <a:endParaRPr lang="en-US" sz="1500" dirty="0"/>
          </a:p>
        </p:txBody>
      </p:sp>
      <p:sp>
        <p:nvSpPr>
          <p:cNvPr id="5" name="Shape 2"/>
          <p:cNvSpPr/>
          <p:nvPr/>
        </p:nvSpPr>
        <p:spPr>
          <a:xfrm>
            <a:off x="6583680" y="1371600"/>
            <a:ext cx="4937760" cy="4297680"/>
          </a:xfrm>
          <a:prstGeom prst="roundRect">
            <a:avLst>
              <a:gd name="adj" fmla="val 1702"/>
            </a:avLst>
          </a:prstGeom>
          <a:solidFill>
            <a:srgbClr val="F4F6F8"/>
          </a:solidFill>
          <a:ln/>
        </p:spPr>
      </p:sp>
      <p:sp>
        <p:nvSpPr>
          <p:cNvPr id="6" name="Text 3"/>
          <p:cNvSpPr txBox="1"/>
          <p:nvPr/>
        </p:nvSpPr>
        <p:spPr>
          <a:xfrm>
            <a:off x="6903720" y="1645920"/>
            <a:ext cx="4297680" cy="457200"/>
          </a:xfrm>
          <a:prstGeom prst="rect">
            <a:avLst/>
          </a:prstGeom>
          <a:noFill/>
          <a:ln/>
        </p:spPr>
        <p:txBody>
          <a:bodyPr wrap="square" rtlCol="0" anchor="ctr"/>
          <a:lstStyle/>
          <a:p>
            <a:pPr marL="0" indent="0">
              <a:buNone/>
            </a:pPr>
            <a:r>
              <a:rPr lang="en-US" sz="1800" b="1" dirty="0">
                <a:solidFill>
                  <a:srgbClr val="1F3A5F"/>
                </a:solidFill>
                <a:latin typeface="Georgia" pitchFamily="34" charset="0"/>
                <a:ea typeface="Georgia" pitchFamily="34" charset="-122"/>
                <a:cs typeface="Georgia" pitchFamily="34" charset="-120"/>
              </a:rPr>
              <a:t>Three factors stand out</a:t>
            </a:r>
            <a:endParaRPr lang="en-US" sz="1800" dirty="0"/>
          </a:p>
        </p:txBody>
      </p:sp>
      <p:sp>
        <p:nvSpPr>
          <p:cNvPr id="7" name="Text 4"/>
          <p:cNvSpPr txBox="1"/>
          <p:nvPr/>
        </p:nvSpPr>
        <p:spPr>
          <a:xfrm>
            <a:off x="6903720" y="2286000"/>
            <a:ext cx="4297680" cy="1645920"/>
          </a:xfrm>
          <a:prstGeom prst="rect">
            <a:avLst/>
          </a:prstGeom>
          <a:noFill/>
          <a:ln/>
        </p:spPr>
        <p:txBody>
          <a:bodyPr wrap="square" rtlCol="0" anchor="t"/>
          <a:lstStyle/>
          <a:p>
            <a:pPr marL="342900" indent="-342900">
              <a:lnSpc>
                <a:spcPct val="130000"/>
              </a:lnSpc>
              <a:buSzPct val="100000"/>
              <a:buChar char="•"/>
            </a:pPr>
            <a:r>
              <a:rPr lang="en-US" sz="1500" dirty="0">
                <a:solidFill>
                  <a:srgbClr val="2B2B2B"/>
                </a:solidFill>
                <a:latin typeface="Georgia" pitchFamily="34" charset="0"/>
                <a:ea typeface="Georgia" pitchFamily="34" charset="-122"/>
                <a:cs typeface="Georgia" pitchFamily="34" charset="-120"/>
              </a:rPr>
              <a:t>Body mass index (BMI) — the strongest single factor</a:t>
            </a:r>
            <a:endParaRPr lang="en-US" sz="1500" dirty="0"/>
          </a:p>
          <a:p>
            <a:pPr marL="342900" indent="-342900">
              <a:lnSpc>
                <a:spcPct val="130000"/>
              </a:lnSpc>
              <a:buSzPct val="100000"/>
              <a:buChar char="•"/>
            </a:pPr>
            <a:r>
              <a:rPr lang="en-US" sz="1500" dirty="0">
                <a:solidFill>
                  <a:srgbClr val="2B2B2B"/>
                </a:solidFill>
                <a:latin typeface="Georgia" pitchFamily="34" charset="0"/>
                <a:ea typeface="Georgia" pitchFamily="34" charset="-122"/>
                <a:cs typeface="Georgia" pitchFamily="34" charset="-120"/>
              </a:rPr>
              <a:t>A blood-lipid measure (labelled s5 in the data)</a:t>
            </a:r>
            <a:endParaRPr lang="en-US" sz="1500" dirty="0"/>
          </a:p>
          <a:p>
            <a:pPr marL="342900" indent="-342900">
              <a:lnSpc>
                <a:spcPct val="130000"/>
              </a:lnSpc>
              <a:buSzPct val="100000"/>
              <a:buChar char="•"/>
            </a:pPr>
            <a:r>
              <a:rPr lang="en-US" sz="1500" dirty="0">
                <a:solidFill>
                  <a:srgbClr val="2B2B2B"/>
                </a:solidFill>
                <a:latin typeface="Georgia" pitchFamily="34" charset="0"/>
                <a:ea typeface="Georgia" pitchFamily="34" charset="-122"/>
                <a:cs typeface="Georgia" pitchFamily="34" charset="-120"/>
              </a:rPr>
              <a:t>Blood pressure</a:t>
            </a:r>
            <a:endParaRPr lang="en-US" sz="1500" dirty="0"/>
          </a:p>
        </p:txBody>
      </p:sp>
      <p:sp>
        <p:nvSpPr>
          <p:cNvPr id="8" name="Text 5"/>
          <p:cNvSpPr txBox="1"/>
          <p:nvPr/>
        </p:nvSpPr>
        <p:spPr>
          <a:xfrm>
            <a:off x="6903720" y="4114800"/>
            <a:ext cx="4297680" cy="1371600"/>
          </a:xfrm>
          <a:prstGeom prst="rect">
            <a:avLst/>
          </a:prstGeom>
          <a:noFill/>
          <a:ln/>
        </p:spPr>
        <p:txBody>
          <a:bodyPr wrap="square" rtlCol="0" anchor="ctr"/>
          <a:lstStyle/>
          <a:p>
            <a:pPr marL="0" indent="0">
              <a:buNone/>
            </a:pPr>
            <a:r>
              <a:rPr lang="en-US" sz="1350" dirty="0">
                <a:solidFill>
                  <a:srgbClr val="44546A"/>
                </a:solidFill>
                <a:latin typeface="Georgia" pitchFamily="34" charset="0"/>
                <a:ea typeface="Georgia" pitchFamily="34" charset="-122"/>
                <a:cs typeface="Georgia" pitchFamily="34" charset="-120"/>
              </a:rPr>
              <a:t>Patients who were higher on all three tended to show noticeably more progression than patients who were lower on all three. Age and sex, on their own, were much weaker signals.</a:t>
            </a:r>
            <a:endParaRPr lang="en-US" sz="1350" dirty="0"/>
          </a:p>
        </p:txBody>
      </p:sp>
      <p:sp>
        <p:nvSpPr>
          <p:cNvPr id="9" name="Text 6"/>
          <p:cNvSpPr txBox="1"/>
          <p:nvPr/>
        </p:nvSpPr>
        <p:spPr>
          <a:xfrm>
            <a:off x="10972800" y="6492240"/>
            <a:ext cx="1005840" cy="274320"/>
          </a:xfrm>
          <a:prstGeom prst="rect">
            <a:avLst/>
          </a:prstGeom>
          <a:noFill/>
          <a:ln/>
        </p:spPr>
        <p:txBody>
          <a:bodyPr wrap="square" rtlCol="0" anchor="ctr"/>
          <a:lstStyle/>
          <a:p>
            <a:pPr marL="0" indent="0" algn="r">
              <a:buNone/>
            </a:pPr>
            <a:r>
              <a:rPr lang="en-US" sz="1000" dirty="0">
                <a:solidFill>
                  <a:srgbClr val="6B7280"/>
                </a:solidFill>
                <a:latin typeface="Georgia" pitchFamily="34" charset="0"/>
                <a:ea typeface="Georgia" pitchFamily="34" charset="-122"/>
                <a:cs typeface="Georgia"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F3A5F"/>
                </a:solidFill>
                <a:latin typeface="Georgia" pitchFamily="34" charset="0"/>
                <a:ea typeface="Georgia" pitchFamily="34" charset="-122"/>
                <a:cs typeface="Georgia" pitchFamily="34" charset="-120"/>
              </a:rPr>
              <a:t>What this means in practical terms</a:t>
            </a:r>
            <a:endParaRPr lang="en-US" sz="2800" dirty="0"/>
          </a:p>
        </p:txBody>
      </p:sp>
      <p:sp>
        <p:nvSpPr>
          <p:cNvPr id="3" name="Text 1"/>
          <p:cNvSpPr txBox="1"/>
          <p:nvPr/>
        </p:nvSpPr>
        <p:spPr>
          <a:xfrm>
            <a:off x="640080" y="1234440"/>
            <a:ext cx="10607040" cy="822960"/>
          </a:xfrm>
          <a:prstGeom prst="rect">
            <a:avLst/>
          </a:prstGeom>
          <a:noFill/>
          <a:ln/>
        </p:spPr>
        <p:txBody>
          <a:bodyPr wrap="square" rtlCol="0" anchor="ctr"/>
          <a:lstStyle/>
          <a:p>
            <a:pPr marL="0" indent="0">
              <a:buNone/>
            </a:pPr>
            <a:r>
              <a:rPr lang="en-US" sz="1700" dirty="0">
                <a:solidFill>
                  <a:srgbClr val="2B2B2B"/>
                </a:solidFill>
                <a:latin typeface="Georgia" pitchFamily="34" charset="0"/>
                <a:ea typeface="Georgia" pitchFamily="34" charset="-122"/>
                <a:cs typeface="Georgia" pitchFamily="34" charset="-120"/>
              </a:rPr>
              <a:t>A model combining BMI, blood pressure and the blood-lipid measure explains about half of the differences in progression scores between patients.</a:t>
            </a:r>
            <a:endParaRPr lang="en-US" sz="1700" dirty="0"/>
          </a:p>
        </p:txBody>
      </p:sp>
      <p:graphicFrame>
        <p:nvGraphicFramePr>
          <p:cNvPr id="4" name="Chart 0"/>
          <p:cNvGraphicFramePr/>
          <p:nvPr/>
        </p:nvGraphicFramePr>
        <p:xfrm>
          <a:off x="914400" y="2286000"/>
          <a:ext cx="58521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223760" y="2286000"/>
            <a:ext cx="4297680" cy="3383280"/>
          </a:xfrm>
          <a:prstGeom prst="roundRect">
            <a:avLst>
              <a:gd name="adj" fmla="val 2162"/>
            </a:avLst>
          </a:prstGeom>
          <a:solidFill>
            <a:srgbClr val="F4F6F8"/>
          </a:solidFill>
          <a:ln/>
        </p:spPr>
      </p:sp>
      <p:sp>
        <p:nvSpPr>
          <p:cNvPr id="6" name="Text 3"/>
          <p:cNvSpPr txBox="1"/>
          <p:nvPr/>
        </p:nvSpPr>
        <p:spPr>
          <a:xfrm>
            <a:off x="7498080" y="2560320"/>
            <a:ext cx="3749040" cy="411480"/>
          </a:xfrm>
          <a:prstGeom prst="rect">
            <a:avLst/>
          </a:prstGeom>
          <a:noFill/>
          <a:ln/>
        </p:spPr>
        <p:txBody>
          <a:bodyPr wrap="square" rtlCol="0" anchor="ctr"/>
          <a:lstStyle/>
          <a:p>
            <a:pPr marL="0" indent="0">
              <a:buNone/>
            </a:pPr>
            <a:r>
              <a:rPr lang="en-US" sz="1600" b="1" dirty="0">
                <a:solidFill>
                  <a:srgbClr val="1F3A5F"/>
                </a:solidFill>
                <a:latin typeface="Georgia" pitchFamily="34" charset="0"/>
                <a:ea typeface="Georgia" pitchFamily="34" charset="-122"/>
                <a:cs typeface="Georgia" pitchFamily="34" charset="-120"/>
              </a:rPr>
              <a:t>In plain terms</a:t>
            </a:r>
            <a:endParaRPr lang="en-US" sz="1600" dirty="0"/>
          </a:p>
        </p:txBody>
      </p:sp>
      <p:sp>
        <p:nvSpPr>
          <p:cNvPr id="7" name="Text 4"/>
          <p:cNvSpPr txBox="1"/>
          <p:nvPr/>
        </p:nvSpPr>
        <p:spPr>
          <a:xfrm>
            <a:off x="7498080" y="3108960"/>
            <a:ext cx="3749040" cy="2377440"/>
          </a:xfrm>
          <a:prstGeom prst="rect">
            <a:avLst/>
          </a:prstGeom>
          <a:noFill/>
          <a:ln/>
        </p:spPr>
        <p:txBody>
          <a:bodyPr wrap="square" rtlCol="0" anchor="t"/>
          <a:lstStyle/>
          <a:p>
            <a:pPr marL="0" indent="0">
              <a:buNone/>
            </a:pPr>
            <a:r>
              <a:rPr lang="en-US" sz="1400" dirty="0">
                <a:solidFill>
                  <a:srgbClr val="2B2B2B"/>
                </a:solidFill>
                <a:latin typeface="Georgia" pitchFamily="34" charset="0"/>
                <a:ea typeface="Georgia" pitchFamily="34" charset="-122"/>
                <a:cs typeface="Georgia" pitchFamily="34" charset="-120"/>
              </a:rPr>
              <a:t>Knowing a patient's BMI, blood pressure and blood-lipid level gives a genuinely useful read on their general risk profile although it still leaves roughly half the picture unexplained by other, unmeasured factors.</a:t>
            </a:r>
            <a:endParaRPr lang="en-US" sz="1400" dirty="0"/>
          </a:p>
        </p:txBody>
      </p:sp>
      <p:sp>
        <p:nvSpPr>
          <p:cNvPr id="8" name="Text 5"/>
          <p:cNvSpPr txBox="1"/>
          <p:nvPr/>
        </p:nvSpPr>
        <p:spPr>
          <a:xfrm>
            <a:off x="10972800" y="6492240"/>
            <a:ext cx="1005840" cy="274320"/>
          </a:xfrm>
          <a:prstGeom prst="rect">
            <a:avLst/>
          </a:prstGeom>
          <a:noFill/>
          <a:ln/>
        </p:spPr>
        <p:txBody>
          <a:bodyPr wrap="square" rtlCol="0" anchor="ctr"/>
          <a:lstStyle/>
          <a:p>
            <a:pPr marL="0" indent="0" algn="r">
              <a:buNone/>
            </a:pPr>
            <a:r>
              <a:rPr lang="en-US" sz="1000" dirty="0">
                <a:solidFill>
                  <a:srgbClr val="6B7280"/>
                </a:solidFill>
                <a:latin typeface="Georgia" pitchFamily="34" charset="0"/>
                <a:ea typeface="Georgia" pitchFamily="34" charset="-122"/>
                <a:cs typeface="Georgia"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F3A5F"/>
                </a:solidFill>
                <a:latin typeface="Georgia" pitchFamily="34" charset="0"/>
                <a:ea typeface="Georgia" pitchFamily="34" charset="-122"/>
                <a:cs typeface="Georgia" pitchFamily="34" charset="-120"/>
              </a:rPr>
              <a:t>The main limitation to keep in mind</a:t>
            </a:r>
            <a:endParaRPr lang="en-US" sz="2800" dirty="0"/>
          </a:p>
        </p:txBody>
      </p:sp>
      <p:sp>
        <p:nvSpPr>
          <p:cNvPr id="3" name="Shape 1"/>
          <p:cNvSpPr/>
          <p:nvPr/>
        </p:nvSpPr>
        <p:spPr>
          <a:xfrm>
            <a:off x="640080" y="1417320"/>
            <a:ext cx="10881360" cy="1371600"/>
          </a:xfrm>
          <a:prstGeom prst="roundRect">
            <a:avLst>
              <a:gd name="adj" fmla="val 5333"/>
            </a:avLst>
          </a:prstGeom>
          <a:solidFill>
            <a:srgbClr val="F4F6F8"/>
          </a:solidFill>
          <a:ln/>
        </p:spPr>
      </p:sp>
      <p:sp>
        <p:nvSpPr>
          <p:cNvPr id="4" name="Text 2"/>
          <p:cNvSpPr txBox="1"/>
          <p:nvPr/>
        </p:nvSpPr>
        <p:spPr>
          <a:xfrm>
            <a:off x="960120" y="1645920"/>
            <a:ext cx="10241280" cy="457200"/>
          </a:xfrm>
          <a:prstGeom prst="rect">
            <a:avLst/>
          </a:prstGeom>
          <a:noFill/>
          <a:ln/>
        </p:spPr>
        <p:txBody>
          <a:bodyPr wrap="square" rtlCol="0" anchor="ctr"/>
          <a:lstStyle/>
          <a:p>
            <a:pPr marL="0" indent="0">
              <a:buNone/>
            </a:pPr>
            <a:r>
              <a:rPr lang="en-US" sz="1800" b="1" dirty="0">
                <a:solidFill>
                  <a:srgbClr val="2E7D5B"/>
                </a:solidFill>
                <a:latin typeface="Georgia" pitchFamily="34" charset="0"/>
                <a:ea typeface="Georgia" pitchFamily="34" charset="-122"/>
                <a:cs typeface="Georgia" pitchFamily="34" charset="-120"/>
              </a:rPr>
              <a:t>This is an observational study, not an experiment.</a:t>
            </a:r>
            <a:endParaRPr lang="en-US" sz="1800" dirty="0"/>
          </a:p>
        </p:txBody>
      </p:sp>
      <p:sp>
        <p:nvSpPr>
          <p:cNvPr id="5" name="Text 3"/>
          <p:cNvSpPr txBox="1"/>
          <p:nvPr/>
        </p:nvSpPr>
        <p:spPr>
          <a:xfrm>
            <a:off x="960120" y="2148840"/>
            <a:ext cx="10241280" cy="548640"/>
          </a:xfrm>
          <a:prstGeom prst="rect">
            <a:avLst/>
          </a:prstGeom>
          <a:noFill/>
          <a:ln/>
        </p:spPr>
        <p:txBody>
          <a:bodyPr wrap="square" rtlCol="0" anchor="ctr"/>
          <a:lstStyle/>
          <a:p>
            <a:pPr marL="0" indent="0">
              <a:buNone/>
            </a:pPr>
            <a:r>
              <a:rPr lang="en-US" sz="1400" dirty="0">
                <a:solidFill>
                  <a:srgbClr val="2B2B2B"/>
                </a:solidFill>
                <a:latin typeface="Georgia" pitchFamily="34" charset="0"/>
                <a:ea typeface="Georgia" pitchFamily="34" charset="-122"/>
                <a:cs typeface="Georgia" pitchFamily="34" charset="-120"/>
              </a:rPr>
              <a:t>Patients were simply measured as they were, they were not randomly assigned to different BMI or blood-pressure levels the way patients might be assigned to a treatment in a clinical trial.</a:t>
            </a:r>
            <a:endParaRPr lang="en-US" sz="1400" dirty="0"/>
          </a:p>
        </p:txBody>
      </p:sp>
      <p:sp>
        <p:nvSpPr>
          <p:cNvPr id="6" name="Text 4"/>
          <p:cNvSpPr txBox="1"/>
          <p:nvPr/>
        </p:nvSpPr>
        <p:spPr>
          <a:xfrm>
            <a:off x="640080" y="3063240"/>
            <a:ext cx="10607040" cy="411480"/>
          </a:xfrm>
          <a:prstGeom prst="rect">
            <a:avLst/>
          </a:prstGeom>
          <a:noFill/>
          <a:ln/>
        </p:spPr>
        <p:txBody>
          <a:bodyPr wrap="square" rtlCol="0" anchor="ctr"/>
          <a:lstStyle/>
          <a:p>
            <a:pPr marL="0" indent="0">
              <a:buNone/>
            </a:pPr>
            <a:r>
              <a:rPr lang="en-US" sz="1600" b="1" dirty="0">
                <a:solidFill>
                  <a:srgbClr val="1F3A5F"/>
                </a:solidFill>
                <a:latin typeface="Georgia" pitchFamily="34" charset="0"/>
                <a:ea typeface="Georgia" pitchFamily="34" charset="-122"/>
                <a:cs typeface="Georgia" pitchFamily="34" charset="-120"/>
              </a:rPr>
              <a:t>What that means:</a:t>
            </a:r>
            <a:endParaRPr lang="en-US" sz="1600" dirty="0"/>
          </a:p>
        </p:txBody>
      </p:sp>
      <p:sp>
        <p:nvSpPr>
          <p:cNvPr id="7" name="Text 5"/>
          <p:cNvSpPr txBox="1"/>
          <p:nvPr/>
        </p:nvSpPr>
        <p:spPr>
          <a:xfrm>
            <a:off x="822960" y="3520440"/>
            <a:ext cx="10424160" cy="2377440"/>
          </a:xfrm>
          <a:prstGeom prst="rect">
            <a:avLst/>
          </a:prstGeom>
          <a:noFill/>
          <a:ln/>
        </p:spPr>
        <p:txBody>
          <a:bodyPr wrap="square" rtlCol="0" anchor="t"/>
          <a:lstStyle/>
          <a:p>
            <a:pPr marL="342900" indent="-342900">
              <a:lnSpc>
                <a:spcPct val="135000"/>
              </a:lnSpc>
              <a:buSzPct val="100000"/>
              <a:buChar char="•"/>
            </a:pPr>
            <a:r>
              <a:rPr lang="en-US" sz="1500" dirty="0">
                <a:solidFill>
                  <a:srgbClr val="2B2B2B"/>
                </a:solidFill>
                <a:latin typeface="Georgia" pitchFamily="34" charset="0"/>
                <a:ea typeface="Georgia" pitchFamily="34" charset="-122"/>
                <a:cs typeface="Georgia" pitchFamily="34" charset="-120"/>
              </a:rPr>
              <a:t>The patterns are real associations, but we cannot say BMI or blood pressure causes faster progression.</a:t>
            </a:r>
            <a:endParaRPr lang="en-US" sz="1500" dirty="0"/>
          </a:p>
          <a:p>
            <a:pPr marL="342900" indent="-342900">
              <a:lnSpc>
                <a:spcPct val="135000"/>
              </a:lnSpc>
              <a:buSzPct val="100000"/>
              <a:buChar char="•"/>
            </a:pPr>
            <a:r>
              <a:rPr lang="en-US" sz="1500" dirty="0">
                <a:solidFill>
                  <a:srgbClr val="2B2B2B"/>
                </a:solidFill>
                <a:latin typeface="Georgia" pitchFamily="34" charset="0"/>
                <a:ea typeface="Georgia" pitchFamily="34" charset="-122"/>
                <a:cs typeface="Georgia" pitchFamily="34" charset="-120"/>
              </a:rPr>
              <a:t>Other unmeasured factors as medication, diet, activity levels, how long someone has had diabetes could explain some of what we're seeing.</a:t>
            </a:r>
            <a:endParaRPr lang="en-US" sz="1500" dirty="0"/>
          </a:p>
          <a:p>
            <a:pPr marL="342900" indent="-342900">
              <a:lnSpc>
                <a:spcPct val="135000"/>
              </a:lnSpc>
              <a:buSzPct val="100000"/>
              <a:buChar char="•"/>
            </a:pPr>
            <a:r>
              <a:rPr lang="en-US" sz="1500" dirty="0">
                <a:solidFill>
                  <a:srgbClr val="2B2B2B"/>
                </a:solidFill>
                <a:latin typeface="Georgia" pitchFamily="34" charset="0"/>
                <a:ea typeface="Georgia" pitchFamily="34" charset="-122"/>
                <a:cs typeface="Georgia" pitchFamily="34" charset="-120"/>
              </a:rPr>
              <a:t>We don't know how representative these 442 patients are of your own patient population, so the exact numbers may not transfer directly.</a:t>
            </a:r>
            <a:endParaRPr lang="en-US" sz="1500" dirty="0"/>
          </a:p>
        </p:txBody>
      </p:sp>
      <p:sp>
        <p:nvSpPr>
          <p:cNvPr id="8" name="Text 6"/>
          <p:cNvSpPr txBox="1"/>
          <p:nvPr/>
        </p:nvSpPr>
        <p:spPr>
          <a:xfrm>
            <a:off x="10972800" y="6492240"/>
            <a:ext cx="1005840" cy="274320"/>
          </a:xfrm>
          <a:prstGeom prst="rect">
            <a:avLst/>
          </a:prstGeom>
          <a:noFill/>
          <a:ln/>
        </p:spPr>
        <p:txBody>
          <a:bodyPr wrap="square" rtlCol="0" anchor="ctr"/>
          <a:lstStyle/>
          <a:p>
            <a:pPr marL="0" indent="0" algn="r">
              <a:buNone/>
            </a:pPr>
            <a:r>
              <a:rPr lang="en-US" sz="1000" dirty="0">
                <a:solidFill>
                  <a:srgbClr val="6B7280"/>
                </a:solidFill>
                <a:latin typeface="Georgia" pitchFamily="34" charset="0"/>
                <a:ea typeface="Georgia" pitchFamily="34" charset="-122"/>
                <a:cs typeface="Georgia"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F3A5F"/>
                </a:solidFill>
                <a:latin typeface="Georgia" pitchFamily="34" charset="0"/>
                <a:ea typeface="Georgia" pitchFamily="34" charset="-122"/>
                <a:cs typeface="Georgia" pitchFamily="34" charset="-120"/>
              </a:rPr>
              <a:t>The bottom line</a:t>
            </a:r>
            <a:endParaRPr lang="en-US" sz="2800" dirty="0"/>
          </a:p>
        </p:txBody>
      </p:sp>
      <p:sp>
        <p:nvSpPr>
          <p:cNvPr id="3" name="Shape 1"/>
          <p:cNvSpPr/>
          <p:nvPr/>
        </p:nvSpPr>
        <p:spPr>
          <a:xfrm>
            <a:off x="640080" y="1371600"/>
            <a:ext cx="5212080" cy="4572000"/>
          </a:xfrm>
          <a:prstGeom prst="roundRect">
            <a:avLst>
              <a:gd name="adj" fmla="val 1600"/>
            </a:avLst>
          </a:prstGeom>
          <a:solidFill>
            <a:srgbClr val="F4F6F8"/>
          </a:solidFill>
          <a:ln/>
        </p:spPr>
      </p:sp>
      <p:sp>
        <p:nvSpPr>
          <p:cNvPr id="4" name="Text 2"/>
          <p:cNvSpPr txBox="1"/>
          <p:nvPr/>
        </p:nvSpPr>
        <p:spPr>
          <a:xfrm>
            <a:off x="960120" y="1645920"/>
            <a:ext cx="4572000" cy="457200"/>
          </a:xfrm>
          <a:prstGeom prst="rect">
            <a:avLst/>
          </a:prstGeom>
          <a:noFill/>
          <a:ln/>
        </p:spPr>
        <p:txBody>
          <a:bodyPr wrap="square" rtlCol="0" anchor="ctr"/>
          <a:lstStyle/>
          <a:p>
            <a:pPr marL="0" indent="0">
              <a:buNone/>
            </a:pPr>
            <a:r>
              <a:rPr lang="en-US" sz="1800" b="1" dirty="0">
                <a:solidFill>
                  <a:srgbClr val="2E7D5B"/>
                </a:solidFill>
                <a:latin typeface="Georgia" pitchFamily="34" charset="0"/>
                <a:ea typeface="Georgia" pitchFamily="34" charset="-122"/>
                <a:cs typeface="Georgia" pitchFamily="34" charset="-120"/>
              </a:rPr>
              <a:t>This analysis DOES support</a:t>
            </a:r>
            <a:endParaRPr lang="en-US" sz="1800" dirty="0"/>
          </a:p>
        </p:txBody>
      </p:sp>
      <p:sp>
        <p:nvSpPr>
          <p:cNvPr id="5" name="Text 3"/>
          <p:cNvSpPr txBox="1"/>
          <p:nvPr/>
        </p:nvSpPr>
        <p:spPr>
          <a:xfrm>
            <a:off x="960120" y="2194560"/>
            <a:ext cx="4572000" cy="3566160"/>
          </a:xfrm>
          <a:prstGeom prst="rect">
            <a:avLst/>
          </a:prstGeom>
          <a:noFill/>
          <a:ln/>
        </p:spPr>
        <p:txBody>
          <a:bodyPr wrap="square" rtlCol="0" anchor="t"/>
          <a:lstStyle/>
          <a:p>
            <a:pPr marL="0" indent="0">
              <a:lnSpc>
                <a:spcPct val="130000"/>
              </a:lnSpc>
              <a:buNone/>
            </a:pPr>
            <a:r>
              <a:rPr lang="en-US" sz="1450" dirty="0">
                <a:solidFill>
                  <a:srgbClr val="2B2B2B"/>
                </a:solidFill>
                <a:latin typeface="Georgia" pitchFamily="34" charset="0"/>
                <a:ea typeface="Georgia" pitchFamily="34" charset="-122"/>
                <a:cs typeface="Georgia" pitchFamily="34" charset="-120"/>
              </a:rPr>
              <a:t>• BMI, blood pressure and a blood-lipid measure are reliably linked to diabetes progression in this sample.</a:t>
            </a:r>
            <a:endParaRPr lang="en-US" sz="1450" dirty="0"/>
          </a:p>
          <a:p>
            <a:pPr marL="0" indent="0">
              <a:lnSpc>
                <a:spcPct val="130000"/>
              </a:lnSpc>
              <a:buNone/>
            </a:pPr>
            <a:endParaRPr lang="en-US" sz="1450" dirty="0"/>
          </a:p>
          <a:p>
            <a:pPr marL="0" indent="0">
              <a:lnSpc>
                <a:spcPct val="130000"/>
              </a:lnSpc>
              <a:buNone/>
            </a:pPr>
            <a:r>
              <a:rPr lang="en-US" sz="1450" dirty="0">
                <a:solidFill>
                  <a:srgbClr val="2B2B2B"/>
                </a:solidFill>
                <a:latin typeface="Georgia" pitchFamily="34" charset="0"/>
                <a:ea typeface="Georgia" pitchFamily="34" charset="-122"/>
                <a:cs typeface="Georgia" pitchFamily="34" charset="-120"/>
              </a:rPr>
              <a:t>• Together they capture a genuinely useful, moderate share of patient-to-patient differences, useful for flagging higher-risk patients for closer attention.</a:t>
            </a:r>
            <a:endParaRPr lang="en-US" sz="1450" dirty="0"/>
          </a:p>
        </p:txBody>
      </p:sp>
      <p:sp>
        <p:nvSpPr>
          <p:cNvPr id="6" name="Shape 4"/>
          <p:cNvSpPr/>
          <p:nvPr/>
        </p:nvSpPr>
        <p:spPr>
          <a:xfrm>
            <a:off x="6309360" y="1371600"/>
            <a:ext cx="5212080" cy="4572000"/>
          </a:xfrm>
          <a:prstGeom prst="roundRect">
            <a:avLst>
              <a:gd name="adj" fmla="val 1600"/>
            </a:avLst>
          </a:prstGeom>
          <a:solidFill>
            <a:srgbClr val="F4F6F8"/>
          </a:solidFill>
          <a:ln/>
        </p:spPr>
      </p:sp>
      <p:sp>
        <p:nvSpPr>
          <p:cNvPr id="7" name="Text 5"/>
          <p:cNvSpPr txBox="1"/>
          <p:nvPr/>
        </p:nvSpPr>
        <p:spPr>
          <a:xfrm>
            <a:off x="6629400" y="1645920"/>
            <a:ext cx="4572000" cy="457200"/>
          </a:xfrm>
          <a:prstGeom prst="rect">
            <a:avLst/>
          </a:prstGeom>
          <a:noFill/>
          <a:ln/>
        </p:spPr>
        <p:txBody>
          <a:bodyPr wrap="square" rtlCol="0" anchor="ctr"/>
          <a:lstStyle/>
          <a:p>
            <a:pPr marL="0" indent="0">
              <a:buNone/>
            </a:pPr>
            <a:r>
              <a:rPr lang="en-US" sz="1800" b="1" dirty="0">
                <a:solidFill>
                  <a:srgbClr val="B33951"/>
                </a:solidFill>
                <a:latin typeface="Georgia" pitchFamily="34" charset="0"/>
                <a:ea typeface="Georgia" pitchFamily="34" charset="-122"/>
                <a:cs typeface="Georgia" pitchFamily="34" charset="-120"/>
              </a:rPr>
              <a:t>This analysis does NOT support</a:t>
            </a:r>
            <a:endParaRPr lang="en-US" sz="1800" dirty="0"/>
          </a:p>
        </p:txBody>
      </p:sp>
      <p:sp>
        <p:nvSpPr>
          <p:cNvPr id="8" name="Text 6"/>
          <p:cNvSpPr txBox="1"/>
          <p:nvPr/>
        </p:nvSpPr>
        <p:spPr>
          <a:xfrm>
            <a:off x="6629400" y="2194560"/>
            <a:ext cx="4572000" cy="3566160"/>
          </a:xfrm>
          <a:prstGeom prst="rect">
            <a:avLst/>
          </a:prstGeom>
          <a:noFill/>
          <a:ln/>
        </p:spPr>
        <p:txBody>
          <a:bodyPr wrap="square" rtlCol="0" anchor="t"/>
          <a:lstStyle/>
          <a:p>
            <a:pPr marL="0" indent="0">
              <a:lnSpc>
                <a:spcPct val="130000"/>
              </a:lnSpc>
              <a:buNone/>
            </a:pPr>
            <a:r>
              <a:rPr lang="en-US" sz="1450" dirty="0">
                <a:solidFill>
                  <a:srgbClr val="2B2B2B"/>
                </a:solidFill>
                <a:latin typeface="Georgia" pitchFamily="34" charset="0"/>
                <a:ea typeface="Georgia" pitchFamily="34" charset="-122"/>
                <a:cs typeface="Georgia" pitchFamily="34" charset="-120"/>
              </a:rPr>
              <a:t>• That changing these measures would cause progression to slow down.</a:t>
            </a:r>
            <a:endParaRPr lang="en-US" sz="1450" dirty="0"/>
          </a:p>
          <a:p>
            <a:pPr marL="0" indent="0">
              <a:lnSpc>
                <a:spcPct val="130000"/>
              </a:lnSpc>
              <a:buNone/>
            </a:pPr>
            <a:endParaRPr lang="en-US" sz="1450" dirty="0"/>
          </a:p>
          <a:p>
            <a:pPr marL="0" indent="0">
              <a:lnSpc>
                <a:spcPct val="130000"/>
              </a:lnSpc>
              <a:buNone/>
            </a:pPr>
            <a:r>
              <a:rPr lang="en-US" sz="1450" dirty="0">
                <a:solidFill>
                  <a:srgbClr val="2B2B2B"/>
                </a:solidFill>
                <a:latin typeface="Georgia" pitchFamily="34" charset="0"/>
                <a:ea typeface="Georgia" pitchFamily="34" charset="-122"/>
                <a:cs typeface="Georgia" pitchFamily="34" charset="-120"/>
              </a:rPr>
              <a:t>• Precise, individual-level prediction because half the picture is still unexplained.</a:t>
            </a:r>
            <a:endParaRPr lang="en-US" sz="1450" dirty="0"/>
          </a:p>
          <a:p>
            <a:pPr marL="0" indent="0">
              <a:lnSpc>
                <a:spcPct val="130000"/>
              </a:lnSpc>
              <a:buNone/>
            </a:pPr>
            <a:endParaRPr lang="en-US" sz="1450" dirty="0"/>
          </a:p>
          <a:p>
            <a:pPr marL="0" indent="0">
              <a:lnSpc>
                <a:spcPct val="130000"/>
              </a:lnSpc>
              <a:buNone/>
            </a:pPr>
            <a:r>
              <a:rPr lang="en-US" sz="1450" dirty="0">
                <a:solidFill>
                  <a:srgbClr val="2B2B2B"/>
                </a:solidFill>
                <a:latin typeface="Georgia" pitchFamily="34" charset="0"/>
                <a:ea typeface="Georgia" pitchFamily="34" charset="-122"/>
                <a:cs typeface="Georgia" pitchFamily="34" charset="-120"/>
              </a:rPr>
              <a:t>• Assuming the same pattern applies unchanged to a different patient population.</a:t>
            </a:r>
            <a:endParaRPr lang="en-US" sz="1450" dirty="0"/>
          </a:p>
        </p:txBody>
      </p:sp>
      <p:sp>
        <p:nvSpPr>
          <p:cNvPr id="9" name="Text 7"/>
          <p:cNvSpPr txBox="1"/>
          <p:nvPr/>
        </p:nvSpPr>
        <p:spPr>
          <a:xfrm>
            <a:off x="10972800" y="6492240"/>
            <a:ext cx="1005840" cy="274320"/>
          </a:xfrm>
          <a:prstGeom prst="rect">
            <a:avLst/>
          </a:prstGeom>
          <a:noFill/>
          <a:ln/>
        </p:spPr>
        <p:txBody>
          <a:bodyPr wrap="square" rtlCol="0" anchor="ctr"/>
          <a:lstStyle/>
          <a:p>
            <a:pPr marL="0" indent="0" algn="r">
              <a:buNone/>
            </a:pPr>
            <a:r>
              <a:rPr lang="en-US" sz="1000" dirty="0">
                <a:solidFill>
                  <a:srgbClr val="6B7280"/>
                </a:solidFill>
                <a:latin typeface="Georgia" pitchFamily="34" charset="0"/>
                <a:ea typeface="Georgia" pitchFamily="34" charset="-122"/>
                <a:cs typeface="Georgia" pitchFamily="34" charset="-120"/>
              </a:rPr>
              <a:t>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488</Words>
  <Application>Microsoft Office PowerPoint</Application>
  <PresentationFormat>Ευρεία οθόνη</PresentationFormat>
  <Paragraphs>53</Paragraphs>
  <Slides>6</Slides>
  <Notes>6</Notes>
  <HiddenSlides>0</HiddenSlides>
  <MMClips>0</MMClips>
  <ScaleCrop>false</ScaleCrop>
  <HeadingPairs>
    <vt:vector size="6" baseType="variant">
      <vt:variant>
        <vt:lpstr>Γραμματοσειρές που χρησιμοποιούνται</vt:lpstr>
      </vt:variant>
      <vt:variant>
        <vt:i4>2</vt:i4>
      </vt:variant>
      <vt:variant>
        <vt:lpstr>Θέμα</vt:lpstr>
      </vt:variant>
      <vt:variant>
        <vt:i4>1</vt:i4>
      </vt:variant>
      <vt:variant>
        <vt:lpstr>Τίτλοι διαφανειών</vt:lpstr>
      </vt:variant>
      <vt:variant>
        <vt:i4>6</vt:i4>
      </vt:variant>
    </vt:vector>
  </HeadingPairs>
  <TitlesOfParts>
    <vt:vector size="9" baseType="lpstr">
      <vt:lpstr>Arial</vt:lpstr>
      <vt:lpstr>Georgia</vt:lpstr>
      <vt:lpstr>Office Theme</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2</cp:revision>
  <dcterms:created xsi:type="dcterms:W3CDTF">2026-09-28T04:58:50Z</dcterms:created>
  <dcterms:modified xsi:type="dcterms:W3CDTF">2026-09-28T05:14:06Z</dcterms:modified>
</cp:coreProperties>
</file>